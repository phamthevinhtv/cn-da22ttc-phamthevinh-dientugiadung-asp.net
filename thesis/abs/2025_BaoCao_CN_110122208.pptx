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72" r:id="rId4"/>
    <p:sldId id="273" r:id="rId5"/>
    <p:sldId id="274" r:id="rId6"/>
    <p:sldId id="276" r:id="rId7"/>
    <p:sldId id="275" r:id="rId8"/>
    <p:sldId id="281" r:id="rId9"/>
    <p:sldId id="277" r:id="rId10"/>
    <p:sldId id="280" r:id="rId11"/>
    <p:sldId id="278" r:id="rId12"/>
    <p:sldId id="279"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9" d="100"/>
          <a:sy n="79" d="100"/>
        </p:scale>
        <p:origin x="1498"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8B0FA47-8B15-437F-B746-4611B2E50E7E}" type="datetimeFigureOut">
              <a:rPr lang="en-US" smtClean="0"/>
              <a:t>12/28/2025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EAFC3B5-3211-45B9-A75F-21C4D8AB734F}" type="slidenum">
              <a:rPr lang="en-US" smtClean="0"/>
              <a:t>‹#›</a:t>
            </a:fld>
            <a:endParaRPr lang="en-US"/>
          </a:p>
        </p:txBody>
      </p:sp>
    </p:spTree>
    <p:extLst>
      <p:ext uri="{BB962C8B-B14F-4D97-AF65-F5344CB8AC3E}">
        <p14:creationId xmlns:p14="http://schemas.microsoft.com/office/powerpoint/2010/main" val="32537602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EAFC3B5-3211-45B9-A75F-21C4D8AB734F}" type="slidenum">
              <a:rPr lang="en-US" smtClean="0"/>
              <a:t>2</a:t>
            </a:fld>
            <a:endParaRPr lang="en-US"/>
          </a:p>
        </p:txBody>
      </p:sp>
    </p:spTree>
    <p:extLst>
      <p:ext uri="{BB962C8B-B14F-4D97-AF65-F5344CB8AC3E}">
        <p14:creationId xmlns:p14="http://schemas.microsoft.com/office/powerpoint/2010/main" val="34863751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EAFC3B5-3211-45B9-A75F-21C4D8AB734F}" type="slidenum">
              <a:rPr lang="en-US" smtClean="0"/>
              <a:t>3</a:t>
            </a:fld>
            <a:endParaRPr lang="en-US"/>
          </a:p>
        </p:txBody>
      </p:sp>
    </p:spTree>
    <p:extLst>
      <p:ext uri="{BB962C8B-B14F-4D97-AF65-F5344CB8AC3E}">
        <p14:creationId xmlns:p14="http://schemas.microsoft.com/office/powerpoint/2010/main" val="42530845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EAFC3B5-3211-45B9-A75F-21C4D8AB734F}" type="slidenum">
              <a:rPr lang="en-US" smtClean="0"/>
              <a:t>4</a:t>
            </a:fld>
            <a:endParaRPr lang="en-US"/>
          </a:p>
        </p:txBody>
      </p:sp>
    </p:spTree>
    <p:extLst>
      <p:ext uri="{BB962C8B-B14F-4D97-AF65-F5344CB8AC3E}">
        <p14:creationId xmlns:p14="http://schemas.microsoft.com/office/powerpoint/2010/main" val="30081385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EAFC3B5-3211-45B9-A75F-21C4D8AB734F}" type="slidenum">
              <a:rPr lang="en-US" smtClean="0"/>
              <a:t>5</a:t>
            </a:fld>
            <a:endParaRPr lang="en-US"/>
          </a:p>
        </p:txBody>
      </p:sp>
    </p:spTree>
    <p:extLst>
      <p:ext uri="{BB962C8B-B14F-4D97-AF65-F5344CB8AC3E}">
        <p14:creationId xmlns:p14="http://schemas.microsoft.com/office/powerpoint/2010/main" val="154901606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EAFC3B5-3211-45B9-A75F-21C4D8AB734F}" type="slidenum">
              <a:rPr lang="en-US" smtClean="0"/>
              <a:t>6</a:t>
            </a:fld>
            <a:endParaRPr lang="en-US"/>
          </a:p>
        </p:txBody>
      </p:sp>
    </p:spTree>
    <p:extLst>
      <p:ext uri="{BB962C8B-B14F-4D97-AF65-F5344CB8AC3E}">
        <p14:creationId xmlns:p14="http://schemas.microsoft.com/office/powerpoint/2010/main" val="15753745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EAFC3B5-3211-45B9-A75F-21C4D8AB734F}" type="slidenum">
              <a:rPr lang="en-US" smtClean="0"/>
              <a:t>7</a:t>
            </a:fld>
            <a:endParaRPr lang="en-US"/>
          </a:p>
        </p:txBody>
      </p:sp>
    </p:spTree>
    <p:extLst>
      <p:ext uri="{BB962C8B-B14F-4D97-AF65-F5344CB8AC3E}">
        <p14:creationId xmlns:p14="http://schemas.microsoft.com/office/powerpoint/2010/main" val="15081327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EAFC3B5-3211-45B9-A75F-21C4D8AB734F}" type="slidenum">
              <a:rPr lang="en-US" smtClean="0"/>
              <a:t>8</a:t>
            </a:fld>
            <a:endParaRPr lang="en-US"/>
          </a:p>
        </p:txBody>
      </p:sp>
    </p:spTree>
    <p:extLst>
      <p:ext uri="{BB962C8B-B14F-4D97-AF65-F5344CB8AC3E}">
        <p14:creationId xmlns:p14="http://schemas.microsoft.com/office/powerpoint/2010/main" val="11793973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EAFC3B5-3211-45B9-A75F-21C4D8AB734F}" type="slidenum">
              <a:rPr lang="en-US" smtClean="0"/>
              <a:t>9</a:t>
            </a:fld>
            <a:endParaRPr lang="en-US"/>
          </a:p>
        </p:txBody>
      </p:sp>
    </p:spTree>
    <p:extLst>
      <p:ext uri="{BB962C8B-B14F-4D97-AF65-F5344CB8AC3E}">
        <p14:creationId xmlns:p14="http://schemas.microsoft.com/office/powerpoint/2010/main" val="243339726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EAFC3B5-3211-45B9-A75F-21C4D8AB734F}" type="slidenum">
              <a:rPr lang="en-US" smtClean="0"/>
              <a:t>10</a:t>
            </a:fld>
            <a:endParaRPr lang="en-US"/>
          </a:p>
        </p:txBody>
      </p:sp>
    </p:spTree>
    <p:extLst>
      <p:ext uri="{BB962C8B-B14F-4D97-AF65-F5344CB8AC3E}">
        <p14:creationId xmlns:p14="http://schemas.microsoft.com/office/powerpoint/2010/main" val="38537832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EAFC3B5-3211-45B9-A75F-21C4D8AB734F}" type="slidenum">
              <a:rPr lang="en-US" smtClean="0"/>
              <a:t>11</a:t>
            </a:fld>
            <a:endParaRPr lang="en-US"/>
          </a:p>
        </p:txBody>
      </p:sp>
    </p:spTree>
    <p:extLst>
      <p:ext uri="{BB962C8B-B14F-4D97-AF65-F5344CB8AC3E}">
        <p14:creationId xmlns:p14="http://schemas.microsoft.com/office/powerpoint/2010/main" val="18833303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EAFC3B5-3211-45B9-A75F-21C4D8AB734F}" type="slidenum">
              <a:rPr lang="en-US" smtClean="0"/>
              <a:t>12</a:t>
            </a:fld>
            <a:endParaRPr lang="en-US"/>
          </a:p>
        </p:txBody>
      </p:sp>
    </p:spTree>
    <p:extLst>
      <p:ext uri="{BB962C8B-B14F-4D97-AF65-F5344CB8AC3E}">
        <p14:creationId xmlns:p14="http://schemas.microsoft.com/office/powerpoint/2010/main" val="4376833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07240"/>
          </a:xfrm>
        </p:spPr>
        <p:txBody>
          <a:bodyPr>
            <a:noAutofit/>
          </a:bodyPr>
          <a:lstStyle>
            <a:lvl1pPr>
              <a:defRPr sz="3600" b="1">
                <a:solidFill>
                  <a:schemeClr val="accent1">
                    <a:lumMod val="75000"/>
                  </a:schemeClr>
                </a:solidFill>
                <a:latin typeface="Arial" panose="020B0604020202020204" pitchFamily="34" charset="0"/>
                <a:cs typeface="Arial" panose="020B0604020202020204" pitchFamily="34" charset="0"/>
              </a:defRPr>
            </a:lvl1pPr>
          </a:lstStyle>
          <a:p>
            <a:r>
              <a:rPr lang="en-US" dirty="0" smtClean="0"/>
              <a:t>Click to edit Master title style</a:t>
            </a:r>
            <a:endParaRPr lang="en-US" dirty="0"/>
          </a:p>
        </p:txBody>
      </p:sp>
      <p:sp>
        <p:nvSpPr>
          <p:cNvPr id="3" name="Content Placeholder 2"/>
          <p:cNvSpPr>
            <a:spLocks noGrp="1"/>
          </p:cNvSpPr>
          <p:nvPr>
            <p:ph idx="1"/>
          </p:nvPr>
        </p:nvSpPr>
        <p:spPr/>
        <p:txBody>
          <a:bodyPr>
            <a:normAutofit/>
          </a:bodyPr>
          <a:lstStyle>
            <a:lvl1pPr>
              <a:defRPr sz="2400">
                <a:latin typeface="Arial" panose="020B0604020202020204" pitchFamily="34" charset="0"/>
                <a:cs typeface="Arial" panose="020B0604020202020204" pitchFamily="34" charset="0"/>
              </a:defRPr>
            </a:lvl1pPr>
            <a:lvl2pPr>
              <a:defRPr sz="2400">
                <a:latin typeface="Arial" panose="020B0604020202020204" pitchFamily="34" charset="0"/>
                <a:cs typeface="Arial" panose="020B0604020202020204" pitchFamily="34" charset="0"/>
              </a:defRPr>
            </a:lvl2pPr>
            <a:lvl3pPr>
              <a:defRPr sz="2400">
                <a:latin typeface="Arial" panose="020B0604020202020204" pitchFamily="34" charset="0"/>
                <a:cs typeface="Arial" panose="020B0604020202020204" pitchFamily="34" charset="0"/>
              </a:defRPr>
            </a:lvl3pPr>
            <a:lvl4pPr>
              <a:defRPr sz="2400">
                <a:latin typeface="Arial" panose="020B0604020202020204" pitchFamily="34" charset="0"/>
                <a:cs typeface="Arial" panose="020B0604020202020204" pitchFamily="34" charset="0"/>
              </a:defRPr>
            </a:lvl4pPr>
            <a:lvl5pPr>
              <a:defRPr sz="2400">
                <a:latin typeface="Arial" panose="020B0604020202020204" pitchFamily="34" charset="0"/>
                <a:cs typeface="Arial" panose="020B0604020202020204" pitchFamily="34"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pic>
        <p:nvPicPr>
          <p:cNvPr id="8" name="Picture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6286471"/>
            <a:ext cx="9144000" cy="571529"/>
          </a:xfrm>
          <a:prstGeom prst="rect">
            <a:avLst/>
          </a:prstGeom>
        </p:spPr>
      </p:pic>
      <p:pic>
        <p:nvPicPr>
          <p:cNvPr id="9" name="Picture 8"/>
          <p:cNvPicPr>
            <a:picLocks noChangeAspect="1"/>
          </p:cNvPicPr>
          <p:nvPr userDrawn="1"/>
        </p:nvPicPr>
        <p:blipFill>
          <a:blip r:embed="rId3"/>
          <a:stretch>
            <a:fillRect/>
          </a:stretch>
        </p:blipFill>
        <p:spPr>
          <a:xfrm flipV="1">
            <a:off x="0" y="896533"/>
            <a:ext cx="9144000" cy="89875"/>
          </a:xfrm>
          <a:prstGeom prst="rect">
            <a:avLst/>
          </a:prstGeom>
        </p:spPr>
      </p:pic>
    </p:spTree>
    <p:extLst>
      <p:ext uri="{BB962C8B-B14F-4D97-AF65-F5344CB8AC3E}">
        <p14:creationId xmlns:p14="http://schemas.microsoft.com/office/powerpoint/2010/main" val="2614314258"/>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12/28/2025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12/28/2025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12/28/2025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12/28/2025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798075" y="1367560"/>
            <a:ext cx="5547851" cy="996234"/>
          </a:xfrm>
        </p:spPr>
        <p:txBody>
          <a:bodyPr>
            <a:normAutofit/>
          </a:bodyPr>
          <a:lstStyle/>
          <a:p>
            <a:pPr>
              <a:spcBef>
                <a:spcPts val="0"/>
              </a:spcBef>
            </a:pPr>
            <a:r>
              <a:rPr lang="en-US" sz="2400" smtClean="0">
                <a:latin typeface="Arial" panose="020B0604020202020204" pitchFamily="34" charset="0"/>
                <a:cs typeface="Arial" panose="020B0604020202020204" pitchFamily="34" charset="0"/>
              </a:rPr>
              <a:t>THỰC TẬP ĐỒ ÁN CHUYÊN NGÀNH</a:t>
            </a:r>
            <a:endParaRPr sz="3200" b="1" dirty="0">
              <a:latin typeface="Arial" panose="020B0604020202020204" pitchFamily="34" charset="0"/>
              <a:cs typeface="Arial" panose="020B0604020202020204" pitchFamily="34" charset="0"/>
            </a:endParaRPr>
          </a:p>
        </p:txBody>
      </p:sp>
      <p:pic>
        <p:nvPicPr>
          <p:cNvPr id="7" name="Picture 6"/>
          <p:cNvPicPr>
            <a:picLocks noChangeAspect="1"/>
          </p:cNvPicPr>
          <p:nvPr/>
        </p:nvPicPr>
        <p:blipFill>
          <a:blip r:embed="rId2"/>
          <a:stretch>
            <a:fillRect/>
          </a:stretch>
        </p:blipFill>
        <p:spPr>
          <a:xfrm>
            <a:off x="0" y="5943599"/>
            <a:ext cx="9144000" cy="914401"/>
          </a:xfrm>
          <a:prstGeom prst="rect">
            <a:avLst/>
          </a:prstGeom>
        </p:spPr>
      </p:pic>
      <p:sp>
        <p:nvSpPr>
          <p:cNvPr id="4" name="Title 1"/>
          <p:cNvSpPr txBox="1">
            <a:spLocks/>
          </p:cNvSpPr>
          <p:nvPr/>
        </p:nvSpPr>
        <p:spPr>
          <a:xfrm>
            <a:off x="1318138" y="2102517"/>
            <a:ext cx="6507725" cy="1296118"/>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nSpc>
                <a:spcPct val="120000"/>
              </a:lnSpc>
              <a:spcBef>
                <a:spcPts val="0"/>
              </a:spcBef>
            </a:pPr>
            <a:r>
              <a:rPr lang="en-US" sz="3200" b="1" smtClean="0">
                <a:solidFill>
                  <a:schemeClr val="accent1">
                    <a:lumMod val="75000"/>
                  </a:schemeClr>
                </a:solidFill>
                <a:latin typeface="Arial" panose="020B0604020202020204" pitchFamily="34" charset="0"/>
                <a:cs typeface="Arial" panose="020B0604020202020204" pitchFamily="34" charset="0"/>
              </a:rPr>
              <a:t>XÂY DỰNG WEBSITE QUẢN LÝ </a:t>
            </a:r>
            <a:br>
              <a:rPr lang="en-US" sz="3200" b="1" smtClean="0">
                <a:solidFill>
                  <a:schemeClr val="accent1">
                    <a:lumMod val="75000"/>
                  </a:schemeClr>
                </a:solidFill>
                <a:latin typeface="Arial" panose="020B0604020202020204" pitchFamily="34" charset="0"/>
                <a:cs typeface="Arial" panose="020B0604020202020204" pitchFamily="34" charset="0"/>
              </a:rPr>
            </a:br>
            <a:r>
              <a:rPr lang="en-US" sz="3200" b="1" smtClean="0">
                <a:solidFill>
                  <a:schemeClr val="accent1">
                    <a:lumMod val="75000"/>
                  </a:schemeClr>
                </a:solidFill>
                <a:latin typeface="Arial" panose="020B0604020202020204" pitchFamily="34" charset="0"/>
                <a:cs typeface="Arial" panose="020B0604020202020204" pitchFamily="34" charset="0"/>
              </a:rPr>
              <a:t>MẶT HÀNG ĐIỆN TỬ GIA DỤNG</a:t>
            </a:r>
            <a:endParaRPr lang="en-US" sz="3200" b="1" dirty="0">
              <a:solidFill>
                <a:schemeClr val="accent1">
                  <a:lumMod val="75000"/>
                </a:schemeClr>
              </a:solidFill>
              <a:latin typeface="Arial" panose="020B0604020202020204" pitchFamily="34" charset="0"/>
              <a:cs typeface="Arial" panose="020B0604020202020204" pitchFamily="34" charset="0"/>
            </a:endParaRPr>
          </a:p>
        </p:txBody>
      </p:sp>
      <p:sp>
        <p:nvSpPr>
          <p:cNvPr id="5" name="Title 1"/>
          <p:cNvSpPr txBox="1">
            <a:spLocks/>
          </p:cNvSpPr>
          <p:nvPr/>
        </p:nvSpPr>
        <p:spPr>
          <a:xfrm>
            <a:off x="1626625" y="3407756"/>
            <a:ext cx="5890751" cy="996234"/>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nSpc>
                <a:spcPct val="120000"/>
              </a:lnSpc>
              <a:spcBef>
                <a:spcPts val="0"/>
              </a:spcBef>
            </a:pPr>
            <a:r>
              <a:rPr lang="en-US" sz="1800" smtClean="0">
                <a:latin typeface="Arial" panose="020B0604020202020204" pitchFamily="34" charset="0"/>
                <a:cs typeface="Arial" panose="020B0604020202020204" pitchFamily="34" charset="0"/>
              </a:rPr>
              <a:t>GVHD: TS. Nguyễn Trần Diễm Hạnh</a:t>
            </a:r>
          </a:p>
          <a:p>
            <a:pPr>
              <a:lnSpc>
                <a:spcPct val="120000"/>
              </a:lnSpc>
              <a:spcBef>
                <a:spcPts val="0"/>
              </a:spcBef>
            </a:pPr>
            <a:r>
              <a:rPr lang="en-US" sz="1800" smtClean="0">
                <a:latin typeface="Arial" panose="020B0604020202020204" pitchFamily="34" charset="0"/>
                <a:cs typeface="Arial" panose="020B0604020202020204" pitchFamily="34" charset="0"/>
              </a:rPr>
              <a:t>SVTH: Phạm Thế Vinh</a:t>
            </a:r>
            <a:endParaRPr lang="en-US" sz="2400" dirty="0">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smtClean="0">
                <a:solidFill>
                  <a:schemeClr val="accent1">
                    <a:lumMod val="75000"/>
                  </a:schemeClr>
                </a:solidFill>
              </a:rPr>
              <a:t>GIỚI THIỆU</a:t>
            </a:r>
            <a:endParaRPr b="1" dirty="0">
              <a:solidFill>
                <a:schemeClr val="accent1">
                  <a:lumMod val="75000"/>
                </a:schemeClr>
              </a:solidFill>
            </a:endParaRPr>
          </a:p>
        </p:txBody>
      </p:sp>
      <p:sp>
        <p:nvSpPr>
          <p:cNvPr id="3" name="Content Placeholder 2"/>
          <p:cNvSpPr>
            <a:spLocks noGrp="1"/>
          </p:cNvSpPr>
          <p:nvPr>
            <p:ph idx="1"/>
          </p:nvPr>
        </p:nvSpPr>
        <p:spPr>
          <a:xfrm>
            <a:off x="457200" y="1310640"/>
            <a:ext cx="8229600" cy="4525963"/>
          </a:xfrm>
        </p:spPr>
        <p:txBody>
          <a:bodyPr/>
          <a:lstStyle/>
          <a:p>
            <a:pPr marL="0" indent="0" algn="just">
              <a:lnSpc>
                <a:spcPct val="150000"/>
              </a:lnSpc>
              <a:spcBef>
                <a:spcPts val="0"/>
              </a:spcBef>
              <a:buNone/>
            </a:pPr>
            <a:r>
              <a:rPr lang="vi-VN" smtClean="0"/>
              <a:t>	Cùng </a:t>
            </a:r>
            <a:r>
              <a:rPr lang="vi-VN"/>
              <a:t>với sự phát triển của thương mại điện tử, hoạt động mua sắm các sản phẩm điện tử gia dụng đang dần được thực hiện nhiều hơn trên các nền tảng trực tuyến. Điều này đặt ra yêu cầu cần có một hệ thống website vừa hỗ trợ quản lý thông tin hiệu quả, vừa đảm bảo tính thuận tiện và thân thiện đối với người sử dụng.</a:t>
            </a:r>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MỤC TIÊU NGHIÊN CỨU</a:t>
            </a:r>
            <a:endParaRPr b="1" dirty="0">
              <a:solidFill>
                <a:schemeClr val="accent1">
                  <a:lumMod val="75000"/>
                </a:schemeClr>
              </a:solidFill>
            </a:endParaRPr>
          </a:p>
        </p:txBody>
      </p:sp>
      <p:sp>
        <p:nvSpPr>
          <p:cNvPr id="3" name="Content Placeholder 2"/>
          <p:cNvSpPr>
            <a:spLocks noGrp="1"/>
          </p:cNvSpPr>
          <p:nvPr>
            <p:ph idx="1"/>
          </p:nvPr>
        </p:nvSpPr>
        <p:spPr>
          <a:xfrm>
            <a:off x="457200" y="1310640"/>
            <a:ext cx="8229600" cy="4525963"/>
          </a:xfrm>
        </p:spPr>
        <p:txBody>
          <a:bodyPr/>
          <a:lstStyle/>
          <a:p>
            <a:pPr marL="0" indent="0" algn="just">
              <a:lnSpc>
                <a:spcPct val="150000"/>
              </a:lnSpc>
              <a:spcBef>
                <a:spcPts val="0"/>
              </a:spcBef>
              <a:buNone/>
            </a:pPr>
            <a:r>
              <a:rPr lang="vi-VN" smtClean="0"/>
              <a:t>	Xây </a:t>
            </a:r>
            <a:r>
              <a:rPr lang="vi-VN"/>
              <a:t>dựng website quản lý mặt hàng điện tử gia dụng, đáp ứng các chức năng cơ </a:t>
            </a:r>
            <a:r>
              <a:rPr lang="vi-VN" smtClean="0"/>
              <a:t>bản, </a:t>
            </a:r>
            <a:r>
              <a:rPr lang="vi-VN"/>
              <a:t>phục vụ cho việc quản lý và </a:t>
            </a:r>
            <a:r>
              <a:rPr lang="vi-VN" smtClean="0"/>
              <a:t>bán hàng của </a:t>
            </a:r>
            <a:r>
              <a:rPr lang="vi-VN"/>
              <a:t>các cửa hàng, doanh nghiệp vừa và </a:t>
            </a:r>
            <a:r>
              <a:rPr lang="vi-VN" smtClean="0"/>
              <a:t>nhỏ, hỗ trợ khách hàng tìm kiếm, xem và đặt mua sản phẩm.</a:t>
            </a:r>
            <a:endParaRPr lang="en-US" dirty="0"/>
          </a:p>
        </p:txBody>
      </p:sp>
    </p:spTree>
    <p:extLst>
      <p:ext uri="{BB962C8B-B14F-4D97-AF65-F5344CB8AC3E}">
        <p14:creationId xmlns:p14="http://schemas.microsoft.com/office/powerpoint/2010/main" val="188092809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PHƯƠNG PHÁP NGHIÊN CỨU</a:t>
            </a:r>
            <a:endParaRPr b="1" dirty="0">
              <a:solidFill>
                <a:schemeClr val="accent1">
                  <a:lumMod val="75000"/>
                </a:schemeClr>
              </a:solidFill>
            </a:endParaRPr>
          </a:p>
        </p:txBody>
      </p:sp>
      <p:sp>
        <p:nvSpPr>
          <p:cNvPr id="3" name="Content Placeholder 2"/>
          <p:cNvSpPr>
            <a:spLocks noGrp="1"/>
          </p:cNvSpPr>
          <p:nvPr>
            <p:ph idx="1"/>
          </p:nvPr>
        </p:nvSpPr>
        <p:spPr>
          <a:xfrm>
            <a:off x="457200" y="1310640"/>
            <a:ext cx="8229600" cy="4525963"/>
          </a:xfrm>
        </p:spPr>
        <p:txBody>
          <a:bodyPr/>
          <a:lstStyle/>
          <a:p>
            <a:pPr algn="just">
              <a:lnSpc>
                <a:spcPct val="150000"/>
              </a:lnSpc>
              <a:spcBef>
                <a:spcPts val="0"/>
              </a:spcBef>
              <a:buFont typeface="Wingdings" panose="05000000000000000000" pitchFamily="2" charset="2"/>
              <a:buChar char="q"/>
            </a:pPr>
            <a:r>
              <a:rPr lang="vi-VN"/>
              <a:t>Tìm hiểu quy trình nghiệp vụ quản lý và bán hàng trực tuyến.</a:t>
            </a:r>
          </a:p>
          <a:p>
            <a:pPr algn="just">
              <a:lnSpc>
                <a:spcPct val="150000"/>
              </a:lnSpc>
              <a:spcBef>
                <a:spcPts val="0"/>
              </a:spcBef>
              <a:buFont typeface="Wingdings" panose="05000000000000000000" pitchFamily="2" charset="2"/>
              <a:buChar char="q"/>
            </a:pPr>
            <a:r>
              <a:rPr lang="vi-VN"/>
              <a:t>Nghiên cứu phương pháp xây dựng website với ASP.NET Core MVC</a:t>
            </a:r>
          </a:p>
          <a:p>
            <a:pPr algn="just">
              <a:lnSpc>
                <a:spcPct val="150000"/>
              </a:lnSpc>
              <a:spcBef>
                <a:spcPts val="0"/>
              </a:spcBef>
              <a:buFont typeface="Wingdings" panose="05000000000000000000" pitchFamily="2" charset="2"/>
              <a:buChar char="q"/>
            </a:pPr>
            <a:r>
              <a:rPr lang="vi-VN"/>
              <a:t>Xây dựng website quản lý mặt hàng điện tử gia dụng bằng ASP.NET Core MVC với cơ sở dữ liệu SQL </a:t>
            </a:r>
            <a:r>
              <a:rPr lang="vi-VN" smtClean="0"/>
              <a:t>Server và giao diện dùng HTML, CSS, Javascript.</a:t>
            </a:r>
            <a:endParaRPr lang="vi-VN"/>
          </a:p>
        </p:txBody>
      </p:sp>
    </p:spTree>
    <p:extLst>
      <p:ext uri="{BB962C8B-B14F-4D97-AF65-F5344CB8AC3E}">
        <p14:creationId xmlns:p14="http://schemas.microsoft.com/office/powerpoint/2010/main" val="34847955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smtClean="0">
                <a:solidFill>
                  <a:schemeClr val="accent1">
                    <a:lumMod val="75000"/>
                  </a:schemeClr>
                </a:solidFill>
              </a:rPr>
              <a:t>MÔ HÌNH USE CASE</a:t>
            </a:r>
            <a:endParaRPr b="1" dirty="0">
              <a:solidFill>
                <a:schemeClr val="accent1">
                  <a:lumMod val="75000"/>
                </a:schemeClr>
              </a:solidFill>
            </a:endParaRPr>
          </a:p>
        </p:txBody>
      </p:sp>
      <p:pic>
        <p:nvPicPr>
          <p:cNvPr id="6" name="Content Placeholder 5"/>
          <p:cNvPicPr>
            <a:picLocks noGrp="1" noChangeAspect="1"/>
          </p:cNvPicPr>
          <p:nvPr>
            <p:ph idx="1"/>
          </p:nvPr>
        </p:nvPicPr>
        <p:blipFill rotWithShape="1">
          <a:blip r:embed="rId3">
            <a:extLst>
              <a:ext uri="{28A0092B-C50C-407E-A947-70E740481C1C}">
                <a14:useLocalDpi xmlns:a14="http://schemas.microsoft.com/office/drawing/2010/main" val="0"/>
              </a:ext>
            </a:extLst>
          </a:blip>
          <a:srcRect l="18694" t="13219" r="18694" b="12631"/>
          <a:stretch/>
        </p:blipFill>
        <p:spPr>
          <a:xfrm>
            <a:off x="3067304" y="1035461"/>
            <a:ext cx="3073881" cy="5148000"/>
          </a:xfrm>
        </p:spPr>
      </p:pic>
    </p:spTree>
    <p:extLst>
      <p:ext uri="{BB962C8B-B14F-4D97-AF65-F5344CB8AC3E}">
        <p14:creationId xmlns:p14="http://schemas.microsoft.com/office/powerpoint/2010/main" val="61510906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smtClean="0">
                <a:solidFill>
                  <a:schemeClr val="accent1">
                    <a:lumMod val="75000"/>
                  </a:schemeClr>
                </a:solidFill>
              </a:rPr>
              <a:t>MÔ HÌNH ERD</a:t>
            </a:r>
            <a:endParaRPr b="1" dirty="0">
              <a:solidFill>
                <a:schemeClr val="accent1">
                  <a:lumMod val="75000"/>
                </a:schemeClr>
              </a:solidFill>
            </a:endParaRPr>
          </a:p>
        </p:txBody>
      </p:sp>
      <p:pic>
        <p:nvPicPr>
          <p:cNvPr id="4" name="Content Placeholder 3"/>
          <p:cNvPicPr>
            <a:picLocks noGrp="1" noChangeAspect="1"/>
          </p:cNvPicPr>
          <p:nvPr>
            <p:ph idx="1"/>
          </p:nvPr>
        </p:nvPicPr>
        <p:blipFill rotWithShape="1">
          <a:blip r:embed="rId3">
            <a:extLst>
              <a:ext uri="{28A0092B-C50C-407E-A947-70E740481C1C}">
                <a14:useLocalDpi xmlns:a14="http://schemas.microsoft.com/office/drawing/2010/main" val="0"/>
              </a:ext>
            </a:extLst>
          </a:blip>
          <a:srcRect l="7551" t="11865" r="7372" b="12910"/>
          <a:stretch/>
        </p:blipFill>
        <p:spPr>
          <a:xfrm>
            <a:off x="1040513" y="1021403"/>
            <a:ext cx="7062975" cy="5204298"/>
          </a:xfrm>
        </p:spPr>
      </p:pic>
    </p:spTree>
    <p:extLst>
      <p:ext uri="{BB962C8B-B14F-4D97-AF65-F5344CB8AC3E}">
        <p14:creationId xmlns:p14="http://schemas.microsoft.com/office/powerpoint/2010/main" val="385946161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smtClean="0">
                <a:solidFill>
                  <a:schemeClr val="accent1">
                    <a:lumMod val="75000"/>
                  </a:schemeClr>
                </a:solidFill>
              </a:rPr>
              <a:t>MÔ HÌNH DỮ LIỆU QUAN HỆ</a:t>
            </a:r>
            <a:endParaRPr b="1" dirty="0">
              <a:solidFill>
                <a:schemeClr val="accent1">
                  <a:lumMod val="75000"/>
                </a:schemeClr>
              </a:solidFill>
            </a:endParaRPr>
          </a:p>
        </p:txBody>
      </p:sp>
      <p:pic>
        <p:nvPicPr>
          <p:cNvPr id="5" name="Content Placeholder 4"/>
          <p:cNvPicPr>
            <a:picLocks noGrp="1" noChangeAspect="1"/>
          </p:cNvPicPr>
          <p:nvPr>
            <p:ph idx="1"/>
          </p:nvPr>
        </p:nvPicPr>
        <p:blipFill rotWithShape="1">
          <a:blip r:embed="rId3">
            <a:extLst>
              <a:ext uri="{28A0092B-C50C-407E-A947-70E740481C1C}">
                <a14:useLocalDpi xmlns:a14="http://schemas.microsoft.com/office/drawing/2010/main" val="0"/>
              </a:ext>
            </a:extLst>
          </a:blip>
          <a:srcRect l="7730" t="14293" r="7909" b="15640"/>
          <a:stretch/>
        </p:blipFill>
        <p:spPr>
          <a:xfrm>
            <a:off x="1044000" y="1123305"/>
            <a:ext cx="7200000" cy="4983438"/>
          </a:xfrm>
        </p:spPr>
      </p:pic>
    </p:spTree>
    <p:extLst>
      <p:ext uri="{BB962C8B-B14F-4D97-AF65-F5344CB8AC3E}">
        <p14:creationId xmlns:p14="http://schemas.microsoft.com/office/powerpoint/2010/main" val="228973127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smtClean="0">
                <a:solidFill>
                  <a:schemeClr val="accent1">
                    <a:lumMod val="75000"/>
                  </a:schemeClr>
                </a:solidFill>
              </a:rPr>
              <a:t>SƠ ĐỒ WEBSITE</a:t>
            </a:r>
            <a:endParaRPr b="1" dirty="0">
              <a:solidFill>
                <a:schemeClr val="accent1">
                  <a:lumMod val="75000"/>
                </a:schemeClr>
              </a:solidFill>
            </a:endParaRPr>
          </a:p>
        </p:txBody>
      </p:sp>
      <p:pic>
        <p:nvPicPr>
          <p:cNvPr id="4" name="Content Placeholder 3"/>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91569" y="1435723"/>
            <a:ext cx="3920507" cy="2217953"/>
          </a:xfrm>
        </p:spPr>
      </p:pic>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807291" y="1435723"/>
            <a:ext cx="4068147" cy="1726968"/>
          </a:xfrm>
          <a:prstGeom prst="rect">
            <a:avLst/>
          </a:prstGeom>
        </p:spPr>
      </p:pic>
      <p:pic>
        <p:nvPicPr>
          <p:cNvPr id="7" name="Picture 6"/>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437815" y="4278201"/>
            <a:ext cx="6268370" cy="1768926"/>
          </a:xfrm>
          <a:prstGeom prst="rect">
            <a:avLst/>
          </a:prstGeom>
        </p:spPr>
      </p:pic>
      <p:sp>
        <p:nvSpPr>
          <p:cNvPr id="8" name="TextBox 7"/>
          <p:cNvSpPr txBox="1"/>
          <p:nvPr/>
        </p:nvSpPr>
        <p:spPr>
          <a:xfrm>
            <a:off x="357670" y="1093872"/>
            <a:ext cx="3788304" cy="338554"/>
          </a:xfrm>
          <a:prstGeom prst="rect">
            <a:avLst/>
          </a:prstGeom>
          <a:noFill/>
        </p:spPr>
        <p:txBody>
          <a:bodyPr wrap="square" rtlCol="0">
            <a:spAutoFit/>
          </a:bodyPr>
          <a:lstStyle/>
          <a:p>
            <a:pPr algn="ctr"/>
            <a:r>
              <a:rPr lang="en-US" sz="1600" smtClean="0"/>
              <a:t>Chưa đăng ký/đăng </a:t>
            </a:r>
            <a:r>
              <a:rPr lang="en-US" sz="1600" smtClean="0"/>
              <a:t>nhập</a:t>
            </a:r>
            <a:endParaRPr lang="vi-VN" sz="1600"/>
          </a:p>
        </p:txBody>
      </p:sp>
      <p:sp>
        <p:nvSpPr>
          <p:cNvPr id="9" name="TextBox 8"/>
          <p:cNvSpPr txBox="1"/>
          <p:nvPr/>
        </p:nvSpPr>
        <p:spPr>
          <a:xfrm>
            <a:off x="5062663" y="1089574"/>
            <a:ext cx="3557401" cy="338554"/>
          </a:xfrm>
          <a:prstGeom prst="rect">
            <a:avLst/>
          </a:prstGeom>
          <a:noFill/>
        </p:spPr>
        <p:txBody>
          <a:bodyPr wrap="square" rtlCol="0">
            <a:spAutoFit/>
          </a:bodyPr>
          <a:lstStyle/>
          <a:p>
            <a:pPr algn="ctr"/>
            <a:r>
              <a:rPr lang="en-US" sz="1600" smtClean="0"/>
              <a:t>Đã đăng ký/đăng nhập</a:t>
            </a:r>
            <a:r>
              <a:rPr lang="en-US" sz="1600"/>
              <a:t> trang khách hàng</a:t>
            </a:r>
            <a:endParaRPr lang="vi-VN" sz="1600"/>
          </a:p>
        </p:txBody>
      </p:sp>
      <p:sp>
        <p:nvSpPr>
          <p:cNvPr id="10" name="TextBox 9"/>
          <p:cNvSpPr txBox="1"/>
          <p:nvPr/>
        </p:nvSpPr>
        <p:spPr>
          <a:xfrm>
            <a:off x="3315016" y="3939647"/>
            <a:ext cx="2513967" cy="338554"/>
          </a:xfrm>
          <a:prstGeom prst="rect">
            <a:avLst/>
          </a:prstGeom>
          <a:noFill/>
        </p:spPr>
        <p:txBody>
          <a:bodyPr wrap="square" rtlCol="0">
            <a:spAutoFit/>
          </a:bodyPr>
          <a:lstStyle/>
          <a:p>
            <a:pPr algn="ctr"/>
            <a:r>
              <a:rPr lang="en-US" sz="1600" smtClean="0"/>
              <a:t>Đã đăng nhập trang quản trị</a:t>
            </a:r>
            <a:endParaRPr lang="vi-VN" sz="1600"/>
          </a:p>
        </p:txBody>
      </p:sp>
    </p:spTree>
    <p:extLst>
      <p:ext uri="{BB962C8B-B14F-4D97-AF65-F5344CB8AC3E}">
        <p14:creationId xmlns:p14="http://schemas.microsoft.com/office/powerpoint/2010/main" val="233231753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smtClean="0">
                <a:solidFill>
                  <a:schemeClr val="accent1">
                    <a:lumMod val="75000"/>
                  </a:schemeClr>
                </a:solidFill>
              </a:rPr>
              <a:t>KẾT QUẢ NGHIÊN CỨU</a:t>
            </a:r>
            <a:endParaRPr b="1" dirty="0">
              <a:solidFill>
                <a:schemeClr val="accent1">
                  <a:lumMod val="75000"/>
                </a:schemeClr>
              </a:solidFill>
            </a:endParaRPr>
          </a:p>
        </p:txBody>
      </p:sp>
      <p:sp>
        <p:nvSpPr>
          <p:cNvPr id="3" name="Content Placeholder 2"/>
          <p:cNvSpPr>
            <a:spLocks noGrp="1"/>
          </p:cNvSpPr>
          <p:nvPr>
            <p:ph idx="1"/>
          </p:nvPr>
        </p:nvSpPr>
        <p:spPr>
          <a:xfrm>
            <a:off x="457200" y="1310640"/>
            <a:ext cx="8229600" cy="4710782"/>
          </a:xfrm>
        </p:spPr>
        <p:txBody>
          <a:bodyPr>
            <a:normAutofit lnSpcReduction="10000"/>
          </a:bodyPr>
          <a:lstStyle/>
          <a:p>
            <a:pPr marL="0" indent="0">
              <a:lnSpc>
                <a:spcPct val="150000"/>
              </a:lnSpc>
              <a:spcBef>
                <a:spcPts val="0"/>
              </a:spcBef>
              <a:buNone/>
            </a:pPr>
            <a:r>
              <a:rPr lang="vi-VN" smtClean="0"/>
              <a:t>Xây dựng thành công website với các chức năng:</a:t>
            </a:r>
          </a:p>
          <a:p>
            <a:pPr>
              <a:lnSpc>
                <a:spcPct val="150000"/>
              </a:lnSpc>
              <a:spcBef>
                <a:spcPts val="0"/>
              </a:spcBef>
              <a:buFont typeface="Arial" panose="020B0604020202020204" pitchFamily="34" charset="0"/>
              <a:buChar char="•"/>
            </a:pPr>
            <a:r>
              <a:rPr lang="vi-VN" smtClean="0"/>
              <a:t>Quản </a:t>
            </a:r>
            <a:r>
              <a:rPr lang="vi-VN"/>
              <a:t>lý sản phẩm</a:t>
            </a:r>
          </a:p>
          <a:p>
            <a:pPr>
              <a:lnSpc>
                <a:spcPct val="150000"/>
              </a:lnSpc>
              <a:spcBef>
                <a:spcPts val="0"/>
              </a:spcBef>
              <a:buFont typeface="Arial" panose="020B0604020202020204" pitchFamily="34" charset="0"/>
              <a:buChar char="•"/>
            </a:pPr>
            <a:r>
              <a:rPr lang="vi-VN"/>
              <a:t>Quản lý </a:t>
            </a:r>
            <a:r>
              <a:rPr lang="vi-VN" smtClean="0"/>
              <a:t>danh mục </a:t>
            </a:r>
            <a:r>
              <a:rPr lang="vi-VN"/>
              <a:t>thương hiệu, nước sản xuất</a:t>
            </a:r>
          </a:p>
          <a:p>
            <a:pPr>
              <a:lnSpc>
                <a:spcPct val="150000"/>
              </a:lnSpc>
              <a:spcBef>
                <a:spcPts val="0"/>
              </a:spcBef>
              <a:buFont typeface="Arial" panose="020B0604020202020204" pitchFamily="34" charset="0"/>
              <a:buChar char="•"/>
            </a:pPr>
            <a:r>
              <a:rPr lang="vi-VN"/>
              <a:t>Quản lý đơn hàng</a:t>
            </a:r>
          </a:p>
          <a:p>
            <a:pPr>
              <a:lnSpc>
                <a:spcPct val="150000"/>
              </a:lnSpc>
              <a:spcBef>
                <a:spcPts val="0"/>
              </a:spcBef>
              <a:buFont typeface="Arial" panose="020B0604020202020204" pitchFamily="34" charset="0"/>
              <a:buChar char="•"/>
            </a:pPr>
            <a:r>
              <a:rPr lang="vi-VN"/>
              <a:t>Thống kê doanh thu</a:t>
            </a:r>
          </a:p>
          <a:p>
            <a:pPr>
              <a:lnSpc>
                <a:spcPct val="150000"/>
              </a:lnSpc>
              <a:spcBef>
                <a:spcPts val="0"/>
              </a:spcBef>
              <a:buFont typeface="Arial" panose="020B0604020202020204" pitchFamily="34" charset="0"/>
              <a:buChar char="•"/>
            </a:pPr>
            <a:r>
              <a:rPr lang="vi-VN"/>
              <a:t>Xem và tìm kiếm sản phẩm</a:t>
            </a:r>
          </a:p>
          <a:p>
            <a:pPr>
              <a:lnSpc>
                <a:spcPct val="150000"/>
              </a:lnSpc>
              <a:spcBef>
                <a:spcPts val="0"/>
              </a:spcBef>
              <a:buFont typeface="Arial" panose="020B0604020202020204" pitchFamily="34" charset="0"/>
              <a:buChar char="•"/>
            </a:pPr>
            <a:r>
              <a:rPr lang="vi-VN"/>
              <a:t>Giỏ hàng và đặt hàng</a:t>
            </a:r>
          </a:p>
          <a:p>
            <a:pPr>
              <a:lnSpc>
                <a:spcPct val="150000"/>
              </a:lnSpc>
              <a:spcBef>
                <a:spcPts val="0"/>
              </a:spcBef>
              <a:buFont typeface="Arial" panose="020B0604020202020204" pitchFamily="34" charset="0"/>
              <a:buChar char="•"/>
            </a:pPr>
            <a:r>
              <a:rPr lang="vi-VN"/>
              <a:t>Lịch sử mua hàng</a:t>
            </a:r>
          </a:p>
          <a:p>
            <a:pPr>
              <a:lnSpc>
                <a:spcPct val="150000"/>
              </a:lnSpc>
              <a:spcBef>
                <a:spcPts val="0"/>
              </a:spcBef>
              <a:buFont typeface="Arial" panose="020B0604020202020204" pitchFamily="34" charset="0"/>
              <a:buChar char="•"/>
            </a:pPr>
            <a:r>
              <a:rPr lang="vi-VN"/>
              <a:t>Lưu trữ thông tin cá nhân</a:t>
            </a:r>
          </a:p>
        </p:txBody>
      </p:sp>
    </p:spTree>
    <p:extLst>
      <p:ext uri="{BB962C8B-B14F-4D97-AF65-F5344CB8AC3E}">
        <p14:creationId xmlns:p14="http://schemas.microsoft.com/office/powerpoint/2010/main" val="290727554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smtClean="0">
                <a:solidFill>
                  <a:schemeClr val="accent1">
                    <a:lumMod val="75000"/>
                  </a:schemeClr>
                </a:solidFill>
              </a:rPr>
              <a:t>KẾT QUẢ NGHIÊN CỨU</a:t>
            </a:r>
            <a:endParaRPr b="1" dirty="0">
              <a:solidFill>
                <a:schemeClr val="accent1">
                  <a:lumMod val="75000"/>
                </a:schemeClr>
              </a:solidFill>
            </a:endParaRPr>
          </a:p>
        </p:txBody>
      </p:sp>
      <p:pic>
        <p:nvPicPr>
          <p:cNvPr id="4" name="Content Placeholder 3"/>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152000" y="1068079"/>
            <a:ext cx="6840000" cy="5135605"/>
          </a:xfrm>
          <a:ln>
            <a:solidFill>
              <a:schemeClr val="bg1">
                <a:lumMod val="85000"/>
              </a:schemeClr>
            </a:solidFill>
          </a:ln>
        </p:spPr>
      </p:pic>
    </p:spTree>
    <p:extLst>
      <p:ext uri="{BB962C8B-B14F-4D97-AF65-F5344CB8AC3E}">
        <p14:creationId xmlns:p14="http://schemas.microsoft.com/office/powerpoint/2010/main" val="85572456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smtClean="0">
                <a:solidFill>
                  <a:schemeClr val="accent1">
                    <a:lumMod val="75000"/>
                  </a:schemeClr>
                </a:solidFill>
              </a:rPr>
              <a:t>KẾT LUẬN VÀ HƯỚNG PHÁT TRIỂN</a:t>
            </a:r>
            <a:endParaRPr b="1" dirty="0">
              <a:solidFill>
                <a:schemeClr val="accent1">
                  <a:lumMod val="75000"/>
                </a:schemeClr>
              </a:solidFill>
            </a:endParaRPr>
          </a:p>
        </p:txBody>
      </p:sp>
      <p:sp>
        <p:nvSpPr>
          <p:cNvPr id="3" name="Content Placeholder 2"/>
          <p:cNvSpPr>
            <a:spLocks noGrp="1"/>
          </p:cNvSpPr>
          <p:nvPr>
            <p:ph idx="1"/>
          </p:nvPr>
        </p:nvSpPr>
        <p:spPr>
          <a:xfrm>
            <a:off x="457200" y="1310640"/>
            <a:ext cx="8229600" cy="4973428"/>
          </a:xfrm>
        </p:spPr>
        <p:txBody>
          <a:bodyPr>
            <a:normAutofit lnSpcReduction="10000"/>
          </a:bodyPr>
          <a:lstStyle/>
          <a:p>
            <a:pPr marL="0" indent="0">
              <a:lnSpc>
                <a:spcPct val="150000"/>
              </a:lnSpc>
              <a:spcBef>
                <a:spcPts val="0"/>
              </a:spcBef>
              <a:buNone/>
            </a:pPr>
            <a:r>
              <a:rPr lang="vi-VN" b="1" smtClean="0"/>
              <a:t>Kết luận</a:t>
            </a:r>
          </a:p>
          <a:p>
            <a:pPr algn="just">
              <a:lnSpc>
                <a:spcPct val="150000"/>
              </a:lnSpc>
              <a:spcBef>
                <a:spcPts val="0"/>
              </a:spcBef>
            </a:pPr>
            <a:r>
              <a:rPr lang="vi-VN" smtClean="0"/>
              <a:t>Hoàn thành xây </a:t>
            </a:r>
            <a:r>
              <a:rPr lang="vi-VN"/>
              <a:t>dựng </a:t>
            </a:r>
            <a:r>
              <a:rPr lang="vi-VN" smtClean="0"/>
              <a:t>website </a:t>
            </a:r>
            <a:r>
              <a:rPr lang="en-US"/>
              <a:t>phục vụ </a:t>
            </a:r>
            <a:r>
              <a:rPr lang="en-US" smtClean="0"/>
              <a:t>công </a:t>
            </a:r>
            <a:r>
              <a:rPr lang="en-US"/>
              <a:t>tác quản lý và </a:t>
            </a:r>
            <a:r>
              <a:rPr lang="en-US" smtClean="0"/>
              <a:t>buôn bán các </a:t>
            </a:r>
            <a:r>
              <a:rPr lang="en-US"/>
              <a:t>mặt hàng điện tử gia </a:t>
            </a:r>
            <a:r>
              <a:rPr lang="en-US" smtClean="0"/>
              <a:t>dụng</a:t>
            </a:r>
            <a:r>
              <a:rPr lang="vi-VN" smtClean="0"/>
              <a:t> bằng </a:t>
            </a:r>
            <a:r>
              <a:rPr lang="vi-VN"/>
              <a:t>ASP.NET Core MVC, SQL Server, kết hợp HTML, CSS, </a:t>
            </a:r>
            <a:r>
              <a:rPr lang="vi-VN" smtClean="0"/>
              <a:t>JavaScript.</a:t>
            </a:r>
          </a:p>
          <a:p>
            <a:pPr algn="just">
              <a:lnSpc>
                <a:spcPct val="150000"/>
              </a:lnSpc>
              <a:spcBef>
                <a:spcPts val="0"/>
              </a:spcBef>
            </a:pPr>
            <a:r>
              <a:rPr lang="vi-VN"/>
              <a:t>Hệ thống còn một số hạn chế về hiệu năng, giao diện và mức độ </a:t>
            </a:r>
            <a:r>
              <a:rPr lang="vi-VN" smtClean="0"/>
              <a:t>hoàn thiện.</a:t>
            </a:r>
          </a:p>
          <a:p>
            <a:pPr algn="just">
              <a:lnSpc>
                <a:spcPct val="150000"/>
              </a:lnSpc>
              <a:spcBef>
                <a:spcPts val="0"/>
              </a:spcBef>
            </a:pPr>
            <a:r>
              <a:rPr lang="vi-VN" smtClean="0"/>
              <a:t>Góp </a:t>
            </a:r>
            <a:r>
              <a:rPr lang="vi-VN"/>
              <a:t>phần củng cố kiến thức và kỹ năng xây dựng ứng dụng web quản lý.</a:t>
            </a:r>
          </a:p>
        </p:txBody>
      </p:sp>
    </p:spTree>
    <p:extLst>
      <p:ext uri="{BB962C8B-B14F-4D97-AF65-F5344CB8AC3E}">
        <p14:creationId xmlns:p14="http://schemas.microsoft.com/office/powerpoint/2010/main" val="204595849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smtClean="0">
                <a:solidFill>
                  <a:schemeClr val="accent1">
                    <a:lumMod val="75000"/>
                  </a:schemeClr>
                </a:solidFill>
              </a:rPr>
              <a:t>KẾT LUẬN VÀ HƯỚNG PHÁT TRIỂN</a:t>
            </a:r>
            <a:endParaRPr b="1" dirty="0">
              <a:solidFill>
                <a:schemeClr val="accent1">
                  <a:lumMod val="75000"/>
                </a:schemeClr>
              </a:solidFill>
            </a:endParaRPr>
          </a:p>
        </p:txBody>
      </p:sp>
      <p:sp>
        <p:nvSpPr>
          <p:cNvPr id="3" name="Content Placeholder 2"/>
          <p:cNvSpPr>
            <a:spLocks noGrp="1"/>
          </p:cNvSpPr>
          <p:nvPr>
            <p:ph idx="1"/>
          </p:nvPr>
        </p:nvSpPr>
        <p:spPr>
          <a:xfrm>
            <a:off x="457200" y="1310640"/>
            <a:ext cx="8229600" cy="4973428"/>
          </a:xfrm>
        </p:spPr>
        <p:txBody>
          <a:bodyPr>
            <a:normAutofit/>
          </a:bodyPr>
          <a:lstStyle/>
          <a:p>
            <a:pPr marL="0" indent="0">
              <a:lnSpc>
                <a:spcPct val="150000"/>
              </a:lnSpc>
              <a:spcBef>
                <a:spcPts val="0"/>
              </a:spcBef>
              <a:buNone/>
            </a:pPr>
            <a:r>
              <a:rPr lang="vi-VN" b="1" smtClean="0"/>
              <a:t>Hướng phát triển</a:t>
            </a:r>
          </a:p>
          <a:p>
            <a:pPr algn="just">
              <a:lnSpc>
                <a:spcPct val="150000"/>
              </a:lnSpc>
              <a:spcBef>
                <a:spcPts val="0"/>
              </a:spcBef>
            </a:pPr>
            <a:r>
              <a:rPr lang="vi-VN"/>
              <a:t>Bổ sung quản lý kho: theo dõi tồn kho, cảnh báo số lượng thấp, quản lý nhập – xuất.</a:t>
            </a:r>
          </a:p>
          <a:p>
            <a:pPr algn="just">
              <a:lnSpc>
                <a:spcPct val="150000"/>
              </a:lnSpc>
              <a:spcBef>
                <a:spcPts val="0"/>
              </a:spcBef>
            </a:pPr>
            <a:r>
              <a:rPr lang="vi-VN"/>
              <a:t>Tích hợp thanh toán trực tuyến </a:t>
            </a:r>
            <a:r>
              <a:rPr lang="vi-VN" smtClean="0"/>
              <a:t>như ví </a:t>
            </a:r>
            <a:r>
              <a:rPr lang="vi-VN"/>
              <a:t>điện tử, chuyển khoản ngân hàng</a:t>
            </a:r>
            <a:r>
              <a:rPr lang="vi-VN" smtClean="0"/>
              <a:t>,…</a:t>
            </a:r>
            <a:endParaRPr lang="vi-VN"/>
          </a:p>
          <a:p>
            <a:pPr algn="just">
              <a:lnSpc>
                <a:spcPct val="150000"/>
              </a:lnSpc>
              <a:spcBef>
                <a:spcPts val="0"/>
              </a:spcBef>
            </a:pPr>
            <a:r>
              <a:rPr lang="vi-VN"/>
              <a:t>Xây dựng </a:t>
            </a:r>
            <a:r>
              <a:rPr lang="vi-VN" smtClean="0"/>
              <a:t>biểu đồ báo </a:t>
            </a:r>
            <a:r>
              <a:rPr lang="vi-VN"/>
              <a:t>cáo và thống </a:t>
            </a:r>
            <a:r>
              <a:rPr lang="vi-VN" smtClean="0"/>
              <a:t>kê chi tiết: </a:t>
            </a:r>
            <a:r>
              <a:rPr lang="vi-VN"/>
              <a:t>doanh thu, sản phẩm bán </a:t>
            </a:r>
            <a:r>
              <a:rPr lang="vi-VN" smtClean="0"/>
              <a:t>chạy,…</a:t>
            </a:r>
            <a:endParaRPr lang="vi-VN"/>
          </a:p>
        </p:txBody>
      </p:sp>
    </p:spTree>
    <p:extLst>
      <p:ext uri="{BB962C8B-B14F-4D97-AF65-F5344CB8AC3E}">
        <p14:creationId xmlns:p14="http://schemas.microsoft.com/office/powerpoint/2010/main" val="3979748647"/>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238</TotalTime>
  <Words>481</Words>
  <Application>Microsoft Office PowerPoint</Application>
  <PresentationFormat>On-screen Show (4:3)</PresentationFormat>
  <Paragraphs>51</Paragraphs>
  <Slides>12</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Wingdings</vt:lpstr>
      <vt:lpstr>Office Theme</vt:lpstr>
      <vt:lpstr>THỰC TẬP ĐỒ ÁN CHUYÊN NGÀNH</vt:lpstr>
      <vt:lpstr>GIỚI THIỆU</vt:lpstr>
      <vt:lpstr>MỤC TIÊU NGHIÊN CỨU</vt:lpstr>
      <vt:lpstr>PHƯƠNG PHÁP NGHIÊN CỨU</vt:lpstr>
      <vt:lpstr>MÔ HÌNH USE CASE</vt:lpstr>
      <vt:lpstr>MÔ HÌNH ERD</vt:lpstr>
      <vt:lpstr>MÔ HÌNH DỮ LIỆU QUAN HỆ</vt:lpstr>
      <vt:lpstr>SƠ ĐỒ WEBSITE</vt:lpstr>
      <vt:lpstr>KẾT QUẢ NGHIÊN CỨU</vt:lpstr>
      <vt:lpstr>KẾT QUẢ NGHIÊN CỨU</vt:lpstr>
      <vt:lpstr>KẾT LUẬN VÀ HƯỚNG PHÁT TRIỂN</vt:lpstr>
      <vt:lpstr>KẾT LUẬN VÀ HƯỚNG PHÁT TRIỂN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CHƯƠNG 1: TỔNG QUAN VỀ QUẢN LÝ DỰ ÁN PHẦN MỀM</dc:title>
  <dc:subject/>
  <dc:creator>Khac Quoc</dc:creator>
  <cp:keywords/>
  <dc:description>generated using python-pptx</dc:description>
  <cp:lastModifiedBy>Phạm Thế Vinh</cp:lastModifiedBy>
  <cp:revision>49</cp:revision>
  <dcterms:created xsi:type="dcterms:W3CDTF">2013-01-27T09:14:16Z</dcterms:created>
  <dcterms:modified xsi:type="dcterms:W3CDTF">2025-12-28T12:22:24Z</dcterms:modified>
  <cp:category/>
</cp:coreProperties>
</file>